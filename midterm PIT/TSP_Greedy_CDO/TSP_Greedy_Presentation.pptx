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google.com/maps/dir/?api=1&amp;origin=Gaston+Park%2C+Cagayan+de+Oro%2C+Philippines&amp;destination=Gaston+Park%2C+Cagayan+de+Oro%2C+Philippines&amp;travelmode=walking&amp;waypoints=Plaza+Divisoria%2C+Cagayan+de+Oro%2C+Philippines%7CAyala+Malls+Centrio%2C+Cagayan+de+Oro%2C+Philippines%7CSM+CDO+Downtown%2C+Cagayan+de+Oro%2C+Philippines%7CLimketkai+Mall%2C+Cagayan+de+Oro%2C+Philippine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B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09728" cy="1371600"/>
          </a:xfrm>
          <a:prstGeom prst="rect">
            <a:avLst/>
          </a:prstGeom>
          <a:solidFill>
            <a:srgbClr val="F1BD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014984"/>
            <a:ext cx="9875520" cy="43891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EB8C5"/>
                </a:solidFill>
                <a:latin typeface="Aptos"/>
              </a:defRPr>
            </a:pPr>
            <a:r>
              <a:t>PERFORMANCE INNOVATIVE 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1728216"/>
            <a:ext cx="10332720" cy="152704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6F8FB"/>
                </a:solidFill>
                <a:latin typeface="Aptos"/>
              </a:defRPr>
            </a:pPr>
            <a:r>
              <a:t>A Greedy Solution to the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6F8FB"/>
                </a:solidFill>
                <a:latin typeface="Aptos"/>
              </a:defRPr>
            </a:pPr>
            <a:r>
              <a:t>Traveling Salesperson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" y="3803904"/>
            <a:ext cx="9875520" cy="54864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C5D5E2"/>
                </a:solidFill>
                <a:latin typeface="Aptos"/>
              </a:defRPr>
            </a:pPr>
            <a:r>
              <a:t>A five-landmark tour of Cagayan de Oro City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4919472"/>
            <a:ext cx="2743200" cy="411480"/>
          </a:xfrm>
          <a:prstGeom prst="roundRect">
            <a:avLst>
              <a:gd name="adj" fmla="val 10000"/>
            </a:avLst>
          </a:prstGeom>
          <a:solidFill>
            <a:srgbClr val="1C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1872" y="5010912"/>
            <a:ext cx="2523744" cy="237744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6F8FB"/>
                </a:solidFill>
                <a:latin typeface="Aptos"/>
              </a:defRPr>
            </a:pPr>
            <a:r>
              <a:t>NEAREST NEIGHBOR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4919472"/>
            <a:ext cx="3246120" cy="411480"/>
          </a:xfrm>
          <a:prstGeom prst="roundRect">
            <a:avLst>
              <a:gd name="adj" fmla="val 10000"/>
            </a:avLst>
          </a:prstGeom>
          <a:solidFill>
            <a:srgbClr val="1C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7952" y="5010912"/>
            <a:ext cx="3026663" cy="237744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6F8FB"/>
                </a:solidFill>
                <a:latin typeface="Aptos"/>
              </a:defRPr>
            </a:pPr>
            <a:r>
              <a:t>PYTHON DEMONSTRATION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16368" y="4919472"/>
            <a:ext cx="2926080" cy="411480"/>
          </a:xfrm>
          <a:prstGeom prst="roundRect">
            <a:avLst>
              <a:gd name="adj" fmla="val 10000"/>
            </a:avLst>
          </a:prstGeom>
          <a:solidFill>
            <a:srgbClr val="1C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5010912"/>
            <a:ext cx="2706624" cy="237744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6F8FB"/>
                </a:solidFill>
                <a:latin typeface="Aptos"/>
              </a:defRPr>
            </a:pPr>
            <a:r>
              <a:t>10–15 MINUTE VIDEO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6071616"/>
            <a:ext cx="10241280" cy="27432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394AA"/>
                </a:solidFill>
                <a:latin typeface="Aptos"/>
              </a:defRPr>
            </a:pPr>
            <a:r>
              <a:t>Prepared for the TSP algorithm performance task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B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" y="420624"/>
            <a:ext cx="73152" cy="301752"/>
          </a:xfrm>
          <a:prstGeom prst="rect">
            <a:avLst/>
          </a:prstGeom>
          <a:solidFill>
            <a:srgbClr val="F1BD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9184"/>
            <a:ext cx="10881360" cy="39319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EB8C5"/>
                </a:solidFill>
                <a:latin typeface="Aptos"/>
              </a:defRPr>
            </a:pPr>
            <a:r>
              <a:t>GREEDY TSP  /  CAGAYAN DE ORO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96112"/>
            <a:ext cx="10972800" cy="74980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6F8FB"/>
                </a:solidFill>
                <a:latin typeface="Aptos"/>
              </a:defRPr>
            </a:pPr>
            <a:r>
              <a:t>The problem: visit every landmark, then return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345936"/>
            <a:ext cx="10936224" cy="10972"/>
          </a:xfrm>
          <a:prstGeom prst="rect">
            <a:avLst/>
          </a:prstGeom>
          <a:solidFill>
            <a:srgbClr val="3A5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37376"/>
            <a:ext cx="7315200" cy="20116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394AA"/>
                </a:solidFill>
                <a:latin typeface="Aptos"/>
              </a:defRPr>
            </a:pPr>
            <a:r>
              <a:t>TSP • Greedy Nearest Neighbor • educational straight-line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822960" cy="21031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394A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47088"/>
            <a:ext cx="5303520" cy="3200400"/>
          </a:xfrm>
          <a:prstGeom prst="roundRect">
            <a:avLst>
              <a:gd name="adj" fmla="val 10000"/>
            </a:avLst>
          </a:prstGeom>
          <a:solidFill>
            <a:srgbClr val="1C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47088"/>
            <a:ext cx="54864" cy="3200400"/>
          </a:xfrm>
          <a:prstGeom prst="rect">
            <a:avLst/>
          </a:prstGeom>
          <a:solidFill>
            <a:srgbClr val="F1BD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029968"/>
            <a:ext cx="4892040" cy="34747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6F8FB"/>
                </a:solidFill>
                <a:latin typeface="Aptos"/>
              </a:defRPr>
            </a:pPr>
            <a:r>
              <a:t>Real-world scenario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59736"/>
            <a:ext cx="4828031" cy="248716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C5D5E2"/>
                </a:solidFill>
                <a:latin typeface="Aptos"/>
              </a:defRPr>
            </a:pPr>
            <a:r>
              <a:t>A city visitor wants to document five recognizable locations in one tour, starting and finishing at Gaston Park.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847088"/>
            <a:ext cx="5321808" cy="3200400"/>
          </a:xfrm>
          <a:prstGeom prst="roundRect">
            <a:avLst>
              <a:gd name="adj" fmla="val 10000"/>
            </a:avLst>
          </a:prstGeom>
          <a:solidFill>
            <a:srgbClr val="1C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847088"/>
            <a:ext cx="54864" cy="3200400"/>
          </a:xfrm>
          <a:prstGeom prst="rect">
            <a:avLst/>
          </a:prstGeom>
          <a:solidFill>
            <a:srgbClr val="2EB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029968"/>
            <a:ext cx="4910328" cy="34747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6F8FB"/>
                </a:solidFill>
                <a:latin typeface="Aptos"/>
              </a:defRPr>
            </a:pPr>
            <a:r>
              <a:t>TSP requirements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59736"/>
            <a:ext cx="4846320" cy="248716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C5D5E2"/>
                </a:solidFill>
                <a:latin typeface="Aptos"/>
              </a:defRPr>
            </a:pPr>
            <a:r>
              <a:t>Visit each required landmark once, return to the starting location, and minimize the selected travel-distance measure.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952744"/>
            <a:ext cx="10789920" cy="27432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394AA"/>
                </a:solidFill>
                <a:latin typeface="Aptos"/>
              </a:defRPr>
            </a:pPr>
            <a:r>
              <a:t>Objective in this demonstration: minimize total modeled straight-line distance, in kilometers.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B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" y="420624"/>
            <a:ext cx="73152" cy="301752"/>
          </a:xfrm>
          <a:prstGeom prst="rect">
            <a:avLst/>
          </a:prstGeom>
          <a:solidFill>
            <a:srgbClr val="F1BD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9184"/>
            <a:ext cx="10881360" cy="39319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EB8C5"/>
                </a:solidFill>
                <a:latin typeface="Aptos"/>
              </a:defRPr>
            </a:pPr>
            <a:r>
              <a:t>GREEDY TSP  /  CAGAYAN DE ORO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96112"/>
            <a:ext cx="10972800" cy="74980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6F8FB"/>
                </a:solidFill>
                <a:latin typeface="Aptos"/>
              </a:defRPr>
            </a:pPr>
            <a:r>
              <a:t>Five real locations in Cagayan de Oro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345936"/>
            <a:ext cx="10936224" cy="10972"/>
          </a:xfrm>
          <a:prstGeom prst="rect">
            <a:avLst/>
          </a:prstGeom>
          <a:solidFill>
            <a:srgbClr val="3A5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37376"/>
            <a:ext cx="7315200" cy="20116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394AA"/>
                </a:solidFill>
                <a:latin typeface="Aptos"/>
              </a:defRPr>
            </a:pPr>
            <a:r>
              <a:t>TSP • Greedy Nearest Neighbor • educational straight-line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822960" cy="21031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394A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" y="1901952"/>
            <a:ext cx="10808208" cy="3538728"/>
          </a:xfrm>
          <a:prstGeom prst="roundRect">
            <a:avLst>
              <a:gd name="adj" fmla="val 10000"/>
            </a:avLst>
          </a:prstGeom>
          <a:solidFill>
            <a:srgbClr val="1C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9264" y="2103120"/>
            <a:ext cx="402336" cy="402336"/>
          </a:xfrm>
          <a:prstGeom prst="roundRect">
            <a:avLst>
              <a:gd name="adj" fmla="val 10000"/>
            </a:avLst>
          </a:prstGeom>
          <a:solidFill>
            <a:srgbClr val="2EB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2189988"/>
            <a:ext cx="274320" cy="20116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6F8F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116836"/>
            <a:ext cx="4754880" cy="42976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6F8FB"/>
                </a:solidFill>
                <a:latin typeface="Aptos"/>
              </a:defRPr>
            </a:pPr>
            <a:r>
              <a:t>Gaston Park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1384" y="2167127"/>
            <a:ext cx="4206240" cy="310896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5D5E2"/>
                </a:solidFill>
                <a:latin typeface="Aptos"/>
              </a:defRPr>
            </a:pPr>
            <a:r>
              <a:t>8.475420° N, 124.642140° 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" y="2734056"/>
            <a:ext cx="402336" cy="402336"/>
          </a:xfrm>
          <a:prstGeom prst="roundRect">
            <a:avLst>
              <a:gd name="adj" fmla="val 10000"/>
            </a:avLst>
          </a:prstGeom>
          <a:solidFill>
            <a:srgbClr val="344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2820924"/>
            <a:ext cx="274320" cy="20116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6F8F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6192" y="2747772"/>
            <a:ext cx="4754880" cy="42976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6F8FB"/>
                </a:solidFill>
                <a:latin typeface="Aptos"/>
              </a:defRPr>
            </a:pPr>
            <a:r>
              <a:t>Plaza Divisoria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2798063"/>
            <a:ext cx="4206240" cy="310896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5D5E2"/>
                </a:solidFill>
                <a:latin typeface="Aptos"/>
              </a:defRPr>
            </a:pPr>
            <a:r>
              <a:t>8.477750° N, 124.643778° 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" y="3364991"/>
            <a:ext cx="402336" cy="402336"/>
          </a:xfrm>
          <a:prstGeom prst="roundRect">
            <a:avLst>
              <a:gd name="adj" fmla="val 10000"/>
            </a:avLst>
          </a:prstGeom>
          <a:solidFill>
            <a:srgbClr val="344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3451860"/>
            <a:ext cx="274320" cy="20116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6F8F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6192" y="3378708"/>
            <a:ext cx="4754880" cy="42976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6F8FB"/>
                </a:solidFill>
                <a:latin typeface="Aptos"/>
              </a:defRPr>
            </a:pPr>
            <a:r>
              <a:t>Ayala Malls Centrio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1384" y="3428999"/>
            <a:ext cx="4206240" cy="310896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5D5E2"/>
                </a:solidFill>
                <a:latin typeface="Aptos"/>
              </a:defRPr>
            </a:pPr>
            <a:r>
              <a:t>8.485127° N, 124.651201° 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9264" y="3995927"/>
            <a:ext cx="402336" cy="402336"/>
          </a:xfrm>
          <a:prstGeom prst="roundRect">
            <a:avLst>
              <a:gd name="adj" fmla="val 10000"/>
            </a:avLst>
          </a:prstGeom>
          <a:solidFill>
            <a:srgbClr val="344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9848" y="4082795"/>
            <a:ext cx="274320" cy="20116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6F8F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6192" y="4009643"/>
            <a:ext cx="4754880" cy="42976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6F8FB"/>
                </a:solidFill>
                <a:latin typeface="Aptos"/>
              </a:defRPr>
            </a:pPr>
            <a:r>
              <a:t>SM CDO Downtown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1384" y="4059935"/>
            <a:ext cx="4206240" cy="310896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5D5E2"/>
                </a:solidFill>
                <a:latin typeface="Aptos"/>
              </a:defRPr>
            </a:pPr>
            <a:r>
              <a:t>8.484383° N, 124.654322° 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9264" y="4626864"/>
            <a:ext cx="402336" cy="402336"/>
          </a:xfrm>
          <a:prstGeom prst="roundRect">
            <a:avLst>
              <a:gd name="adj" fmla="val 10000"/>
            </a:avLst>
          </a:prstGeom>
          <a:solidFill>
            <a:srgbClr val="344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9848" y="4713731"/>
            <a:ext cx="274320" cy="20116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6F8FB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36192" y="4640579"/>
            <a:ext cx="4754880" cy="42976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6F8FB"/>
                </a:solidFill>
                <a:latin typeface="Aptos"/>
              </a:defRPr>
            </a:pPr>
            <a:r>
              <a:t>Limketkai Mall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1384" y="4690872"/>
            <a:ext cx="4206240" cy="310896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5D5E2"/>
                </a:solidFill>
                <a:latin typeface="Aptos"/>
              </a:defRPr>
            </a:pPr>
            <a:r>
              <a:t>8.481970° N, 124.656570° 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952744"/>
            <a:ext cx="10789920" cy="27432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394AA"/>
                </a:solidFill>
                <a:latin typeface="Aptos"/>
              </a:defRPr>
            </a:pPr>
            <a:r>
              <a:t>A = starting and ending point. Coordinates are approximate published landmark centers.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B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" y="420624"/>
            <a:ext cx="73152" cy="301752"/>
          </a:xfrm>
          <a:prstGeom prst="rect">
            <a:avLst/>
          </a:prstGeom>
          <a:solidFill>
            <a:srgbClr val="F1BD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9184"/>
            <a:ext cx="10881360" cy="39319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EB8C5"/>
                </a:solidFill>
                <a:latin typeface="Aptos"/>
              </a:defRPr>
            </a:pPr>
            <a:r>
              <a:t>GREEDY TSP  /  CAGAYAN DE ORO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96112"/>
            <a:ext cx="10972800" cy="74980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6F8FB"/>
                </a:solidFill>
                <a:latin typeface="Aptos"/>
              </a:defRPr>
            </a:pPr>
            <a:r>
              <a:t>Graph, objective and declared assumptions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345936"/>
            <a:ext cx="10936224" cy="10972"/>
          </a:xfrm>
          <a:prstGeom prst="rect">
            <a:avLst/>
          </a:prstGeom>
          <a:solidFill>
            <a:srgbClr val="3A5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37376"/>
            <a:ext cx="7315200" cy="20116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394AA"/>
                </a:solidFill>
                <a:latin typeface="Aptos"/>
              </a:defRPr>
            </a:pPr>
            <a:r>
              <a:t>TSP • Greedy Nearest Neighbor • educational straight-line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822960" cy="21031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394A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828800"/>
            <a:ext cx="5230368" cy="3611880"/>
          </a:xfrm>
          <a:prstGeom prst="roundRect">
            <a:avLst>
              <a:gd name="adj" fmla="val 10000"/>
            </a:avLst>
          </a:prstGeom>
          <a:solidFill>
            <a:srgbClr val="1C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828800"/>
            <a:ext cx="54864" cy="3611880"/>
          </a:xfrm>
          <a:prstGeom prst="rect">
            <a:avLst/>
          </a:prstGeom>
          <a:solidFill>
            <a:srgbClr val="2EB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4818888" cy="34747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6F8FB"/>
                </a:solidFill>
                <a:latin typeface="Aptos"/>
              </a:defRPr>
            </a:pPr>
            <a:r>
              <a:t>Weighted graph G = (V, 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1448"/>
            <a:ext cx="4754879" cy="289864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C5D5E2"/>
                </a:solidFill>
                <a:latin typeface="Aptos"/>
              </a:defRPr>
            </a:pPr>
            <a:r>
              <a:t>Vertices: A, B, C, D, 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C5D5E2"/>
                </a:solidFill>
                <a:latin typeface="Aptos"/>
              </a:defRPr>
            </a:pPr>
            <a:r>
              <a:t>Edges: every pair of distinct landmarks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C5D5E2"/>
                </a:solidFill>
                <a:latin typeface="Aptos"/>
              </a:defRPr>
            </a:pPr>
            <a:r>
              <a:t>Weights: modeled km between center points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C5D5E2"/>
                </a:solidFill>
                <a:latin typeface="Aptos"/>
              </a:defRPr>
            </a:pPr>
            <a:r>
              <a:t>Graph type: complete, undirected, symmetric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35624" y="1828800"/>
            <a:ext cx="5340096" cy="3611880"/>
          </a:xfrm>
          <a:prstGeom prst="roundRect">
            <a:avLst>
              <a:gd name="adj" fmla="val 10000"/>
            </a:avLst>
          </a:prstGeom>
          <a:solidFill>
            <a:srgbClr val="1C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35624" y="1828800"/>
            <a:ext cx="54864" cy="3611880"/>
          </a:xfrm>
          <a:prstGeom prst="rect">
            <a:avLst/>
          </a:prstGeom>
          <a:solidFill>
            <a:srgbClr val="F1BD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011680"/>
            <a:ext cx="4928616" cy="34747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6F8FB"/>
                </a:solidFill>
                <a:latin typeface="Aptos"/>
              </a:defRPr>
            </a:pPr>
            <a:r>
              <a:t>What the measurements mean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441448"/>
            <a:ext cx="4864608" cy="289864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C5D5E2"/>
                </a:solidFill>
                <a:latin typeface="Aptos"/>
              </a:defRPr>
            </a:pPr>
            <a:r>
              <a:t>We apply the Haversine formula to published latitude/longitude points. Distances are rounded to 0.001 km. They are NOT Google Maps road or walking distances.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952744"/>
            <a:ext cx="10789920" cy="27432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394AA"/>
                </a:solidFill>
                <a:latin typeface="Aptos"/>
              </a:defRPr>
            </a:pPr>
            <a:r>
              <a:t>No traffic, road barriers, travel times, entrance points, time windows, or one-way restrictions are modeled.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B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" y="420624"/>
            <a:ext cx="73152" cy="301752"/>
          </a:xfrm>
          <a:prstGeom prst="rect">
            <a:avLst/>
          </a:prstGeom>
          <a:solidFill>
            <a:srgbClr val="F1BD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9184"/>
            <a:ext cx="10881360" cy="39319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EB8C5"/>
                </a:solidFill>
                <a:latin typeface="Aptos"/>
              </a:defRPr>
            </a:pPr>
            <a:r>
              <a:t>GREEDY TSP  /  CAGAYAN DE ORO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96112"/>
            <a:ext cx="10972800" cy="74980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6F8FB"/>
                </a:solidFill>
                <a:latin typeface="Aptos"/>
              </a:defRPr>
            </a:pPr>
            <a:r>
              <a:t>Input data: 5 × 5 distance matrix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345936"/>
            <a:ext cx="10936224" cy="10972"/>
          </a:xfrm>
          <a:prstGeom prst="rect">
            <a:avLst/>
          </a:prstGeom>
          <a:solidFill>
            <a:srgbClr val="3A5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37376"/>
            <a:ext cx="7315200" cy="20116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394AA"/>
                </a:solidFill>
                <a:latin typeface="Aptos"/>
              </a:defRPr>
            </a:pPr>
            <a:r>
              <a:t>TSP • Greedy Nearest Neighbor • educational straight-line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822960" cy="21031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394A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1856231"/>
            <a:ext cx="7178040" cy="3794760"/>
          </a:xfrm>
          <a:prstGeom prst="roundRect">
            <a:avLst>
              <a:gd name="adj" fmla="val 10000"/>
            </a:avLst>
          </a:prstGeom>
          <a:solidFill>
            <a:srgbClr val="1C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30552" y="2167128"/>
            <a:ext cx="859536" cy="30175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1BD71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2167128"/>
            <a:ext cx="859536" cy="30175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1BD71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167128"/>
            <a:ext cx="859536" cy="30175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1BD71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9824" y="2167128"/>
            <a:ext cx="859536" cy="30175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1BD71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2167128"/>
            <a:ext cx="859536" cy="30175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1BD71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2670048"/>
            <a:ext cx="868680" cy="32004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1BD71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30552" y="2596896"/>
            <a:ext cx="950976" cy="457200"/>
          </a:xfrm>
          <a:prstGeom prst="roundRect">
            <a:avLst>
              <a:gd name="adj" fmla="val 10000"/>
            </a:avLst>
          </a:prstGeom>
          <a:solidFill>
            <a:srgbClr val="335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30552" y="2679191"/>
            <a:ext cx="950976" cy="29260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6F8FB"/>
                </a:solidFill>
                <a:latin typeface="Aptos"/>
              </a:defRPr>
            </a:pPr>
            <a:r>
              <a:t>0.000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36976" y="2596896"/>
            <a:ext cx="950976" cy="457200"/>
          </a:xfrm>
          <a:prstGeom prst="roundRect">
            <a:avLst>
              <a:gd name="adj" fmla="val 10000"/>
            </a:avLst>
          </a:prstGeom>
          <a:solidFill>
            <a:srgbClr val="294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36976" y="2679191"/>
            <a:ext cx="950976" cy="29260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6F8FB"/>
                </a:solidFill>
                <a:latin typeface="Aptos"/>
              </a:defRPr>
            </a:pPr>
            <a:r>
              <a:t>0.316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596896"/>
            <a:ext cx="950976" cy="457200"/>
          </a:xfrm>
          <a:prstGeom prst="roundRect">
            <a:avLst>
              <a:gd name="adj" fmla="val 10000"/>
            </a:avLst>
          </a:prstGeom>
          <a:solidFill>
            <a:srgbClr val="20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2679191"/>
            <a:ext cx="950976" cy="29260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6F8FB"/>
                </a:solidFill>
                <a:latin typeface="Aptos"/>
              </a:defRPr>
            </a:pPr>
            <a:r>
              <a:t>1.469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49824" y="2596896"/>
            <a:ext cx="950976" cy="457200"/>
          </a:xfrm>
          <a:prstGeom prst="roundRect">
            <a:avLst>
              <a:gd name="adj" fmla="val 10000"/>
            </a:avLst>
          </a:prstGeom>
          <a:solidFill>
            <a:srgbClr val="294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9824" y="2679191"/>
            <a:ext cx="950976" cy="29260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6F8FB"/>
                </a:solidFill>
                <a:latin typeface="Aptos"/>
              </a:defRPr>
            </a:pPr>
            <a:r>
              <a:t>1.670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2596896"/>
            <a:ext cx="950976" cy="457200"/>
          </a:xfrm>
          <a:prstGeom prst="roundRect">
            <a:avLst>
              <a:gd name="adj" fmla="val 10000"/>
            </a:avLst>
          </a:prstGeom>
          <a:solidFill>
            <a:srgbClr val="20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679191"/>
            <a:ext cx="950976" cy="29260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6F8FB"/>
                </a:solidFill>
                <a:latin typeface="Aptos"/>
              </a:defRPr>
            </a:pPr>
            <a:r>
              <a:t>1.746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3172968"/>
            <a:ext cx="868680" cy="32004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1BD71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30552" y="3099816"/>
            <a:ext cx="950976" cy="457200"/>
          </a:xfrm>
          <a:prstGeom prst="roundRect">
            <a:avLst>
              <a:gd name="adj" fmla="val 10000"/>
            </a:avLst>
          </a:prstGeom>
          <a:solidFill>
            <a:srgbClr val="294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30552" y="3182112"/>
            <a:ext cx="950976" cy="29260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6F8FB"/>
                </a:solidFill>
                <a:latin typeface="Aptos"/>
              </a:defRPr>
            </a:pPr>
            <a:r>
              <a:t>0.316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099816"/>
            <a:ext cx="950976" cy="457200"/>
          </a:xfrm>
          <a:prstGeom prst="roundRect">
            <a:avLst>
              <a:gd name="adj" fmla="val 10000"/>
            </a:avLst>
          </a:prstGeom>
          <a:solidFill>
            <a:srgbClr val="335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36976" y="3182112"/>
            <a:ext cx="950976" cy="29260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6F8FB"/>
                </a:solidFill>
                <a:latin typeface="Aptos"/>
              </a:defRPr>
            </a:pPr>
            <a:r>
              <a:t>0.000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3099816"/>
            <a:ext cx="950976" cy="457200"/>
          </a:xfrm>
          <a:prstGeom prst="roundRect">
            <a:avLst>
              <a:gd name="adj" fmla="val 10000"/>
            </a:avLst>
          </a:prstGeom>
          <a:solidFill>
            <a:srgbClr val="294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3182112"/>
            <a:ext cx="950976" cy="29260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6F8FB"/>
                </a:solidFill>
                <a:latin typeface="Aptos"/>
              </a:defRPr>
            </a:pPr>
            <a:r>
              <a:t>1.157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49824" y="3099816"/>
            <a:ext cx="950976" cy="457200"/>
          </a:xfrm>
          <a:prstGeom prst="roundRect">
            <a:avLst>
              <a:gd name="adj" fmla="val 10000"/>
            </a:avLst>
          </a:prstGeom>
          <a:solidFill>
            <a:srgbClr val="20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49824" y="3182112"/>
            <a:ext cx="950976" cy="29260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6F8FB"/>
                </a:solidFill>
                <a:latin typeface="Aptos"/>
              </a:defRPr>
            </a:pPr>
            <a:r>
              <a:t>1.374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56248" y="3099816"/>
            <a:ext cx="950976" cy="457200"/>
          </a:xfrm>
          <a:prstGeom prst="roundRect">
            <a:avLst>
              <a:gd name="adj" fmla="val 10000"/>
            </a:avLst>
          </a:prstGeom>
          <a:solidFill>
            <a:srgbClr val="294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56248" y="3182112"/>
            <a:ext cx="950976" cy="29260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6F8FB"/>
                </a:solidFill>
                <a:latin typeface="Aptos"/>
              </a:defRPr>
            </a:pPr>
            <a:r>
              <a:t>1.483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" y="3675887"/>
            <a:ext cx="868680" cy="32004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1BD71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130552" y="3602736"/>
            <a:ext cx="950976" cy="457200"/>
          </a:xfrm>
          <a:prstGeom prst="roundRect">
            <a:avLst>
              <a:gd name="adj" fmla="val 10000"/>
            </a:avLst>
          </a:prstGeom>
          <a:solidFill>
            <a:srgbClr val="20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30552" y="3685032"/>
            <a:ext cx="950976" cy="29260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6F8FB"/>
                </a:solidFill>
                <a:latin typeface="Aptos"/>
              </a:defRPr>
            </a:pPr>
            <a:r>
              <a:t>1.469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36976" y="3602736"/>
            <a:ext cx="950976" cy="457200"/>
          </a:xfrm>
          <a:prstGeom prst="roundRect">
            <a:avLst>
              <a:gd name="adj" fmla="val 10000"/>
            </a:avLst>
          </a:prstGeom>
          <a:solidFill>
            <a:srgbClr val="294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36976" y="3685032"/>
            <a:ext cx="950976" cy="29260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6F8FB"/>
                </a:solidFill>
                <a:latin typeface="Aptos"/>
              </a:defRPr>
            </a:pPr>
            <a:r>
              <a:t>1.157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43400" y="3602736"/>
            <a:ext cx="950976" cy="457200"/>
          </a:xfrm>
          <a:prstGeom prst="roundRect">
            <a:avLst>
              <a:gd name="adj" fmla="val 10000"/>
            </a:avLst>
          </a:prstGeom>
          <a:solidFill>
            <a:srgbClr val="335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43400" y="3685032"/>
            <a:ext cx="950976" cy="29260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6F8FB"/>
                </a:solidFill>
                <a:latin typeface="Aptos"/>
              </a:defRPr>
            </a:pPr>
            <a:r>
              <a:t>0.000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49824" y="3602736"/>
            <a:ext cx="950976" cy="457200"/>
          </a:xfrm>
          <a:prstGeom prst="roundRect">
            <a:avLst>
              <a:gd name="adj" fmla="val 10000"/>
            </a:avLst>
          </a:prstGeom>
          <a:solidFill>
            <a:srgbClr val="294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49824" y="3685032"/>
            <a:ext cx="950976" cy="29260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6F8FB"/>
                </a:solidFill>
                <a:latin typeface="Aptos"/>
              </a:defRPr>
            </a:pPr>
            <a:r>
              <a:t>0.353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56248" y="3602736"/>
            <a:ext cx="950976" cy="457200"/>
          </a:xfrm>
          <a:prstGeom prst="roundRect">
            <a:avLst>
              <a:gd name="adj" fmla="val 10000"/>
            </a:avLst>
          </a:prstGeom>
          <a:solidFill>
            <a:srgbClr val="20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6248" y="3685032"/>
            <a:ext cx="950976" cy="29260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6F8FB"/>
                </a:solidFill>
                <a:latin typeface="Aptos"/>
              </a:defRPr>
            </a:pPr>
            <a:r>
              <a:t>0.687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9848" y="4178808"/>
            <a:ext cx="868680" cy="32004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1BD71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130552" y="4105656"/>
            <a:ext cx="950976" cy="457200"/>
          </a:xfrm>
          <a:prstGeom prst="roundRect">
            <a:avLst>
              <a:gd name="adj" fmla="val 10000"/>
            </a:avLst>
          </a:prstGeom>
          <a:solidFill>
            <a:srgbClr val="294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30552" y="4187952"/>
            <a:ext cx="950976" cy="29260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6F8FB"/>
                </a:solidFill>
                <a:latin typeface="Aptos"/>
              </a:defRPr>
            </a:pPr>
            <a:r>
              <a:t>1.670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236976" y="4105656"/>
            <a:ext cx="950976" cy="457200"/>
          </a:xfrm>
          <a:prstGeom prst="roundRect">
            <a:avLst>
              <a:gd name="adj" fmla="val 10000"/>
            </a:avLst>
          </a:prstGeom>
          <a:solidFill>
            <a:srgbClr val="20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36976" y="4187952"/>
            <a:ext cx="950976" cy="29260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6F8FB"/>
                </a:solidFill>
                <a:latin typeface="Aptos"/>
              </a:defRPr>
            </a:pPr>
            <a:r>
              <a:t>1.374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43400" y="4105656"/>
            <a:ext cx="950976" cy="457200"/>
          </a:xfrm>
          <a:prstGeom prst="roundRect">
            <a:avLst>
              <a:gd name="adj" fmla="val 10000"/>
            </a:avLst>
          </a:prstGeom>
          <a:solidFill>
            <a:srgbClr val="294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43400" y="4187952"/>
            <a:ext cx="950976" cy="29260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6F8FB"/>
                </a:solidFill>
                <a:latin typeface="Aptos"/>
              </a:defRPr>
            </a:pPr>
            <a:r>
              <a:t>0.353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49824" y="4105656"/>
            <a:ext cx="950976" cy="457200"/>
          </a:xfrm>
          <a:prstGeom prst="roundRect">
            <a:avLst>
              <a:gd name="adj" fmla="val 10000"/>
            </a:avLst>
          </a:prstGeom>
          <a:solidFill>
            <a:srgbClr val="335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49824" y="4187952"/>
            <a:ext cx="950976" cy="29260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6F8FB"/>
                </a:solidFill>
                <a:latin typeface="Aptos"/>
              </a:defRPr>
            </a:pPr>
            <a:r>
              <a:t>0.000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56248" y="4105656"/>
            <a:ext cx="950976" cy="457200"/>
          </a:xfrm>
          <a:prstGeom prst="roundRect">
            <a:avLst>
              <a:gd name="adj" fmla="val 10000"/>
            </a:avLst>
          </a:prstGeom>
          <a:solidFill>
            <a:srgbClr val="294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56248" y="4187952"/>
            <a:ext cx="950976" cy="29260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6F8FB"/>
                </a:solidFill>
                <a:latin typeface="Aptos"/>
              </a:defRPr>
            </a:pPr>
            <a:r>
              <a:t>0.365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9848" y="4681728"/>
            <a:ext cx="868680" cy="32004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1BD71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130552" y="4608576"/>
            <a:ext cx="950976" cy="457200"/>
          </a:xfrm>
          <a:prstGeom prst="roundRect">
            <a:avLst>
              <a:gd name="adj" fmla="val 10000"/>
            </a:avLst>
          </a:prstGeom>
          <a:solidFill>
            <a:srgbClr val="20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30552" y="4690872"/>
            <a:ext cx="950976" cy="29260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6F8FB"/>
                </a:solidFill>
                <a:latin typeface="Aptos"/>
              </a:defRPr>
            </a:pPr>
            <a:r>
              <a:t>1.746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236976" y="4608576"/>
            <a:ext cx="950976" cy="457200"/>
          </a:xfrm>
          <a:prstGeom prst="roundRect">
            <a:avLst>
              <a:gd name="adj" fmla="val 10000"/>
            </a:avLst>
          </a:prstGeom>
          <a:solidFill>
            <a:srgbClr val="294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36976" y="4690872"/>
            <a:ext cx="950976" cy="29260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6F8FB"/>
                </a:solidFill>
                <a:latin typeface="Aptos"/>
              </a:defRPr>
            </a:pPr>
            <a:r>
              <a:t>1.483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343400" y="4608576"/>
            <a:ext cx="950976" cy="457200"/>
          </a:xfrm>
          <a:prstGeom prst="roundRect">
            <a:avLst>
              <a:gd name="adj" fmla="val 10000"/>
            </a:avLst>
          </a:prstGeom>
          <a:solidFill>
            <a:srgbClr val="20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343400" y="4690872"/>
            <a:ext cx="950976" cy="29260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6F8FB"/>
                </a:solidFill>
                <a:latin typeface="Aptos"/>
              </a:defRPr>
            </a:pPr>
            <a:r>
              <a:t>0.687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449824" y="4608576"/>
            <a:ext cx="950976" cy="457200"/>
          </a:xfrm>
          <a:prstGeom prst="roundRect">
            <a:avLst>
              <a:gd name="adj" fmla="val 10000"/>
            </a:avLst>
          </a:prstGeom>
          <a:solidFill>
            <a:srgbClr val="294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49824" y="4690872"/>
            <a:ext cx="950976" cy="29260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6F8FB"/>
                </a:solidFill>
                <a:latin typeface="Aptos"/>
              </a:defRPr>
            </a:pPr>
            <a:r>
              <a:t>0.365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556248" y="4608576"/>
            <a:ext cx="950976" cy="457200"/>
          </a:xfrm>
          <a:prstGeom prst="roundRect">
            <a:avLst>
              <a:gd name="adj" fmla="val 10000"/>
            </a:avLst>
          </a:prstGeom>
          <a:solidFill>
            <a:srgbClr val="335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56248" y="4690872"/>
            <a:ext cx="950976" cy="29260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6F8FB"/>
                </a:solidFill>
                <a:latin typeface="Aptos"/>
              </a:defRPr>
            </a:pPr>
            <a:r>
              <a:t>0.000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193024" y="1975104"/>
            <a:ext cx="3236976" cy="3182112"/>
          </a:xfrm>
          <a:prstGeom prst="roundRect">
            <a:avLst>
              <a:gd name="adj" fmla="val 10000"/>
            </a:avLst>
          </a:prstGeom>
          <a:solidFill>
            <a:srgbClr val="1C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193024" y="1975104"/>
            <a:ext cx="54864" cy="3182112"/>
          </a:xfrm>
          <a:prstGeom prst="rect">
            <a:avLst/>
          </a:prstGeom>
          <a:solidFill>
            <a:srgbClr val="F1BD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412480" y="2157984"/>
            <a:ext cx="2825496" cy="34747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6F8FB"/>
                </a:solidFill>
                <a:latin typeface="Aptos"/>
              </a:defRPr>
            </a:pPr>
            <a:r>
              <a:t>How to read it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12480" y="2587752"/>
            <a:ext cx="2761488" cy="246888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C5D5E2"/>
                </a:solidFill>
                <a:latin typeface="Aptos"/>
              </a:defRPr>
            </a:pPr>
            <a:r>
              <a:t>B → C = 1.157 km. The diagonal entries are zero. The table is symmetric because the graph is undirected.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5952744"/>
            <a:ext cx="10789920" cy="27432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394AA"/>
                </a:solidFill>
                <a:latin typeface="Aptos"/>
              </a:defRPr>
            </a:pPr>
            <a:r>
              <a:t>Calculated Haversine straight-line weights (km); NOT Google Maps walking or driving distances.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B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" y="420624"/>
            <a:ext cx="73152" cy="301752"/>
          </a:xfrm>
          <a:prstGeom prst="rect">
            <a:avLst/>
          </a:prstGeom>
          <a:solidFill>
            <a:srgbClr val="F1BD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9184"/>
            <a:ext cx="10881360" cy="39319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EB8C5"/>
                </a:solidFill>
                <a:latin typeface="Aptos"/>
              </a:defRPr>
            </a:pPr>
            <a:r>
              <a:t>GREEDY TSP  /  CAGAYAN DE ORO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96112"/>
            <a:ext cx="10972800" cy="74980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6F8FB"/>
                </a:solidFill>
                <a:latin typeface="Aptos"/>
              </a:defRPr>
            </a:pPr>
            <a:r>
              <a:t>Labeled weighted graph and Greedy tour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345936"/>
            <a:ext cx="10936224" cy="10972"/>
          </a:xfrm>
          <a:prstGeom prst="rect">
            <a:avLst/>
          </a:prstGeom>
          <a:solidFill>
            <a:srgbClr val="3A5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37376"/>
            <a:ext cx="7315200" cy="20116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394AA"/>
                </a:solidFill>
                <a:latin typeface="Aptos"/>
              </a:defRPr>
            </a:pPr>
            <a:r>
              <a:t>TSP • Greedy Nearest Neighbor • educational straight-line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822960" cy="21031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394AA"/>
                </a:solidFill>
                <a:latin typeface="Aptos"/>
              </a:defRPr>
            </a:pPr>
            <a:r>
              <a:t>06</a:t>
            </a:r>
          </a:p>
        </p:txBody>
      </p:sp>
      <p:pic>
        <p:nvPicPr>
          <p:cNvPr id="10" name="Picture 9" descr="TSP_Weighted_Graph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1847088"/>
            <a:ext cx="10488168" cy="40876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952744"/>
            <a:ext cx="10789920" cy="27432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394AA"/>
                </a:solidFill>
                <a:latin typeface="Aptos"/>
              </a:defRPr>
            </a:pPr>
            <a:r>
              <a:t>Gold = chosen edges with weights (km). All candidate weights are in the matrix. NOT a street map.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B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" y="420624"/>
            <a:ext cx="73152" cy="301752"/>
          </a:xfrm>
          <a:prstGeom prst="rect">
            <a:avLst/>
          </a:prstGeom>
          <a:solidFill>
            <a:srgbClr val="F1BD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9184"/>
            <a:ext cx="10881360" cy="39319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EB8C5"/>
                </a:solidFill>
                <a:latin typeface="Aptos"/>
              </a:defRPr>
            </a:pPr>
            <a:r>
              <a:t>GREEDY TSP  /  CAGAYAN DE ORO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96112"/>
            <a:ext cx="10972800" cy="74980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6F8FB"/>
                </a:solidFill>
                <a:latin typeface="Aptos"/>
              </a:defRPr>
            </a:pPr>
            <a:r>
              <a:t>Assigned algorithm: Greedy / Nearest Neighbor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345936"/>
            <a:ext cx="10936224" cy="10972"/>
          </a:xfrm>
          <a:prstGeom prst="rect">
            <a:avLst/>
          </a:prstGeom>
          <a:solidFill>
            <a:srgbClr val="3A5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37376"/>
            <a:ext cx="7315200" cy="20116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394AA"/>
                </a:solidFill>
                <a:latin typeface="Aptos"/>
              </a:defRPr>
            </a:pPr>
            <a:r>
              <a:t>TSP • Greedy Nearest Neighbor • educational straight-line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822960" cy="21031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394AA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1810512"/>
            <a:ext cx="10588752" cy="3456432"/>
          </a:xfrm>
          <a:prstGeom prst="roundRect">
            <a:avLst>
              <a:gd name="adj" fmla="val 10000"/>
            </a:avLst>
          </a:prstGeom>
          <a:solidFill>
            <a:srgbClr val="1C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2020824"/>
            <a:ext cx="10104120" cy="309067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6F8FB"/>
                </a:solidFill>
                <a:latin typeface="Consolas"/>
              </a:defRPr>
            </a:pPr>
            <a:r>
              <a:t>INPUT: vertices, pairwise distances, starting vertex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6F8FB"/>
                </a:solidFill>
                <a:latin typeface="Consolas"/>
              </a:defRPr>
            </a:pPr>
            <a:r>
              <a:t>1   start at A; mark A visited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6F8FB"/>
                </a:solidFill>
                <a:latin typeface="Consolas"/>
              </a:defRPr>
            </a:pPr>
            <a:r>
              <a:t>2   while an unvisited vertex remains: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6F8FB"/>
                </a:solidFill>
                <a:latin typeface="Consolas"/>
              </a:defRPr>
            </a:pPr>
            <a:r>
              <a:t>3       choose the nearest UNVISITED vertex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6F8FB"/>
                </a:solidFill>
                <a:latin typeface="Consolas"/>
              </a:defRPr>
            </a:pPr>
            <a:r>
              <a:t>4       move to it; mark it visited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6F8FB"/>
                </a:solidFill>
                <a:latin typeface="Consolas"/>
              </a:defRPr>
            </a:pPr>
            <a:r>
              <a:t>5   return to A to close the tour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6F8FB"/>
                </a:solidFill>
                <a:latin typeface="Consolas"/>
              </a:defRPr>
            </a:pPr>
            <a:r>
              <a:t>OUTPUT: complete tour and total distance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596128"/>
            <a:ext cx="3840480" cy="411480"/>
          </a:xfrm>
          <a:prstGeom prst="roundRect">
            <a:avLst>
              <a:gd name="adj" fmla="val 10000"/>
            </a:avLst>
          </a:prstGeom>
          <a:solidFill>
            <a:srgbClr val="16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5687568"/>
            <a:ext cx="3621024" cy="237744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6F8FB"/>
                </a:solidFill>
                <a:latin typeface="Aptos"/>
              </a:defRPr>
            </a:pPr>
            <a:r>
              <a:t>LOCALLY BEST NEXT STEP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5596128"/>
            <a:ext cx="4681728" cy="411480"/>
          </a:xfrm>
          <a:prstGeom prst="roundRect">
            <a:avLst>
              <a:gd name="adj" fmla="val 10000"/>
            </a:avLst>
          </a:prstGeom>
          <a:solidFill>
            <a:srgbClr val="16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10912" y="5687568"/>
            <a:ext cx="4462272" cy="237744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6F8FB"/>
                </a:solidFill>
                <a:latin typeface="Aptos"/>
              </a:defRPr>
            </a:pPr>
            <a:r>
              <a:t>HEURISTIC, NOT A GENERAL PROOF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B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" y="420624"/>
            <a:ext cx="73152" cy="301752"/>
          </a:xfrm>
          <a:prstGeom prst="rect">
            <a:avLst/>
          </a:prstGeom>
          <a:solidFill>
            <a:srgbClr val="F1BD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9184"/>
            <a:ext cx="10881360" cy="39319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EB8C5"/>
                </a:solidFill>
                <a:latin typeface="Aptos"/>
              </a:defRPr>
            </a:pPr>
            <a:r>
              <a:t>GREEDY TSP  /  CAGAYAN DE ORO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96112"/>
            <a:ext cx="10972800" cy="74980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6F8FB"/>
                </a:solidFill>
                <a:latin typeface="Aptos"/>
              </a:defRPr>
            </a:pPr>
            <a:r>
              <a:t>Manual walkthrough: nearest eligible next move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345936"/>
            <a:ext cx="10936224" cy="10972"/>
          </a:xfrm>
          <a:prstGeom prst="rect">
            <a:avLst/>
          </a:prstGeom>
          <a:solidFill>
            <a:srgbClr val="3A5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37376"/>
            <a:ext cx="7315200" cy="20116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394AA"/>
                </a:solidFill>
                <a:latin typeface="Aptos"/>
              </a:defRPr>
            </a:pPr>
            <a:r>
              <a:t>TSP • Greedy Nearest Neighbor • educational straight-line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822960" cy="21031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394AA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38528"/>
            <a:ext cx="10744200" cy="493776"/>
          </a:xfrm>
          <a:prstGeom prst="roundRect">
            <a:avLst>
              <a:gd name="adj" fmla="val 10000"/>
            </a:avLst>
          </a:prstGeom>
          <a:solidFill>
            <a:srgbClr val="304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029968"/>
            <a:ext cx="1234440" cy="25603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6F8FB"/>
                </a:solidFill>
                <a:latin typeface="Aptos"/>
              </a:defRPr>
            </a:pPr>
            <a:r>
              <a:t>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029968"/>
            <a:ext cx="1371600" cy="25603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6F8FB"/>
                </a:solidFill>
                <a:latin typeface="Aptos"/>
              </a:defRPr>
            </a:pPr>
            <a:r>
              <a:t>CHOOSE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029968"/>
            <a:ext cx="1188720" cy="25603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6F8FB"/>
                </a:solidFill>
                <a:latin typeface="Aptos"/>
              </a:defRPr>
            </a:pPr>
            <a:r>
              <a:t>KM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8"/>
            <a:ext cx="4480560" cy="25603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6F8FB"/>
                </a:solidFill>
                <a:latin typeface="Aptos"/>
              </a:defRPr>
            </a:pPr>
            <a:r>
              <a:t>WHY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" y="2473452"/>
            <a:ext cx="10707624" cy="512064"/>
          </a:xfrm>
          <a:prstGeom prst="rect">
            <a:avLst/>
          </a:prstGeom>
          <a:solidFill>
            <a:srgbClr val="1C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2546604"/>
            <a:ext cx="1234440" cy="32004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6F8F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546604"/>
            <a:ext cx="1371600" cy="32004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6F8F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2546604"/>
            <a:ext cx="1188720" cy="32004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6F8FB"/>
                </a:solidFill>
                <a:latin typeface="Aptos"/>
              </a:defRPr>
            </a:pPr>
            <a:r>
              <a:t>0.316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546604"/>
            <a:ext cx="4480560" cy="32004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5D5E2"/>
                </a:solidFill>
                <a:latin typeface="Aptos"/>
              </a:defRPr>
            </a:pPr>
            <a:r>
              <a:t>0.316 &lt; 1.469, 1.670, 1.746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3113532"/>
            <a:ext cx="1234440" cy="32004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6F8F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3113532"/>
            <a:ext cx="1371600" cy="32004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6F8F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3113532"/>
            <a:ext cx="1188720" cy="32004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6F8FB"/>
                </a:solidFill>
                <a:latin typeface="Aptos"/>
              </a:defRPr>
            </a:pPr>
            <a:r>
              <a:t>1.157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113532"/>
            <a:ext cx="4480560" cy="32004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5D5E2"/>
                </a:solidFill>
                <a:latin typeface="Aptos"/>
              </a:defRPr>
            </a:pPr>
            <a:r>
              <a:t>1.157 &lt; 1.374, 1.483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" y="3607308"/>
            <a:ext cx="10707624" cy="512064"/>
          </a:xfrm>
          <a:prstGeom prst="rect">
            <a:avLst/>
          </a:prstGeom>
          <a:solidFill>
            <a:srgbClr val="1C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3680459"/>
            <a:ext cx="1234440" cy="32004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6F8F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3680459"/>
            <a:ext cx="1371600" cy="32004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6F8F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3680459"/>
            <a:ext cx="1188720" cy="32004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6F8FB"/>
                </a:solidFill>
                <a:latin typeface="Aptos"/>
              </a:defRPr>
            </a:pPr>
            <a:r>
              <a:t>0.353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680459"/>
            <a:ext cx="4480560" cy="32004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5D5E2"/>
                </a:solidFill>
                <a:latin typeface="Aptos"/>
              </a:defRPr>
            </a:pPr>
            <a:r>
              <a:t>0.353 &lt; 0.687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" y="4247388"/>
            <a:ext cx="1234440" cy="32004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6F8F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4247388"/>
            <a:ext cx="1371600" cy="32004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6F8FB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4247388"/>
            <a:ext cx="1188720" cy="32004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6F8FB"/>
                </a:solidFill>
                <a:latin typeface="Aptos"/>
              </a:defRPr>
            </a:pPr>
            <a:r>
              <a:t>0.365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247388"/>
            <a:ext cx="4480560" cy="32004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5D5E2"/>
                </a:solidFill>
                <a:latin typeface="Aptos"/>
              </a:defRPr>
            </a:pPr>
            <a:r>
              <a:t>only E remains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0664" y="4741164"/>
            <a:ext cx="10707624" cy="512064"/>
          </a:xfrm>
          <a:prstGeom prst="rect">
            <a:avLst/>
          </a:prstGeom>
          <a:solidFill>
            <a:srgbClr val="1C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" y="4814316"/>
            <a:ext cx="1234440" cy="32004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6F8FB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8920" y="4814316"/>
            <a:ext cx="1371600" cy="32004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6F8F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4814316"/>
            <a:ext cx="1188720" cy="32004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6F8FB"/>
                </a:solidFill>
                <a:latin typeface="Aptos"/>
              </a:defRPr>
            </a:pPr>
            <a:r>
              <a:t>1.746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814316"/>
            <a:ext cx="4480560" cy="32004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5D5E2"/>
                </a:solidFill>
                <a:latin typeface="Aptos"/>
              </a:defRPr>
            </a:pPr>
            <a:r>
              <a:t>return to the start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5650992"/>
            <a:ext cx="10332720" cy="484632"/>
          </a:xfrm>
          <a:prstGeom prst="roundRect">
            <a:avLst>
              <a:gd name="adj" fmla="val 10000"/>
            </a:avLst>
          </a:prstGeom>
          <a:solidFill>
            <a:srgbClr val="24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4440" y="5733288"/>
            <a:ext cx="9601200" cy="29260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1BD71"/>
                </a:solidFill>
                <a:latin typeface="Aptos"/>
              </a:defRPr>
            </a:pPr>
            <a:r>
              <a:t>Route length = 0.316 + 1.157 + 0.353 + 0.365 + 1.746 = 3.937 km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B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" y="420624"/>
            <a:ext cx="73152" cy="301752"/>
          </a:xfrm>
          <a:prstGeom prst="rect">
            <a:avLst/>
          </a:prstGeom>
          <a:solidFill>
            <a:srgbClr val="F1BD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9184"/>
            <a:ext cx="10881360" cy="39319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EB8C5"/>
                </a:solidFill>
                <a:latin typeface="Aptos"/>
              </a:defRPr>
            </a:pPr>
            <a:r>
              <a:t>GREEDY TSP  /  CAGAYAN DE ORO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96112"/>
            <a:ext cx="10972800" cy="74980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6F8FB"/>
                </a:solidFill>
                <a:latin typeface="Aptos"/>
              </a:defRPr>
            </a:pPr>
            <a:r>
              <a:t>How the Python implementation 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345936"/>
            <a:ext cx="10936224" cy="10972"/>
          </a:xfrm>
          <a:prstGeom prst="rect">
            <a:avLst/>
          </a:prstGeom>
          <a:solidFill>
            <a:srgbClr val="3A5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37376"/>
            <a:ext cx="7315200" cy="20116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394AA"/>
                </a:solidFill>
                <a:latin typeface="Aptos"/>
              </a:defRPr>
            </a:pPr>
            <a:r>
              <a:t>TSP • Greedy Nearest Neighbor • educational straight-line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822960" cy="21031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394AA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" y="1837943"/>
            <a:ext cx="3392424" cy="3511296"/>
          </a:xfrm>
          <a:prstGeom prst="roundRect">
            <a:avLst>
              <a:gd name="adj" fmla="val 10000"/>
            </a:avLst>
          </a:prstGeom>
          <a:solidFill>
            <a:srgbClr val="1C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2376" y="1837943"/>
            <a:ext cx="54864" cy="3511296"/>
          </a:xfrm>
          <a:prstGeom prst="rect">
            <a:avLst/>
          </a:prstGeom>
          <a:solidFill>
            <a:srgbClr val="2EB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020824"/>
            <a:ext cx="2980944" cy="34747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6F8FB"/>
                </a:solidFill>
                <a:latin typeface="Aptos"/>
              </a:defRPr>
            </a:pPr>
            <a:r>
              <a:t>1 • Read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450591"/>
            <a:ext cx="2916936" cy="2798063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5D5E2"/>
                </a:solidFill>
                <a:latin typeface="Aptos"/>
              </a:defRPr>
            </a:pPr>
            <a:r>
              <a:t>Read TSP_Locations.csv and TSP_Distance_Matrix.csv; check IDs and symmetry.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1837943"/>
            <a:ext cx="3392424" cy="3511296"/>
          </a:xfrm>
          <a:prstGeom prst="roundRect">
            <a:avLst>
              <a:gd name="adj" fmla="val 10000"/>
            </a:avLst>
          </a:prstGeom>
          <a:solidFill>
            <a:srgbClr val="1C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1837943"/>
            <a:ext cx="54864" cy="3511296"/>
          </a:xfrm>
          <a:prstGeom prst="rect">
            <a:avLst/>
          </a:prstGeom>
          <a:solidFill>
            <a:srgbClr val="F1BD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2020824"/>
            <a:ext cx="2980944" cy="34747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6F8FB"/>
                </a:solidFill>
                <a:latin typeface="Aptos"/>
              </a:defRPr>
            </a:pPr>
            <a:r>
              <a:t>2 • Run Greedy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450591"/>
            <a:ext cx="2916936" cy="2798063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5D5E2"/>
                </a:solidFill>
                <a:latin typeface="Aptos"/>
              </a:defRPr>
            </a:pPr>
            <a:r>
              <a:t>From the current vertex, select the smallest distance among unvisited vertices.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27848" y="1837943"/>
            <a:ext cx="3401568" cy="3511296"/>
          </a:xfrm>
          <a:prstGeom prst="roundRect">
            <a:avLst>
              <a:gd name="adj" fmla="val 10000"/>
            </a:avLst>
          </a:prstGeom>
          <a:solidFill>
            <a:srgbClr val="1C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27848" y="1837943"/>
            <a:ext cx="54864" cy="3511296"/>
          </a:xfrm>
          <a:prstGeom prst="rect">
            <a:avLst/>
          </a:prstGeom>
          <a:solidFill>
            <a:srgbClr val="957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47304" y="2020824"/>
            <a:ext cx="2990088" cy="34747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6F8FB"/>
                </a:solidFill>
                <a:latin typeface="Aptos"/>
              </a:defRPr>
            </a:pPr>
            <a:r>
              <a:t>3 • Validate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7304" y="2450591"/>
            <a:ext cx="2926080" cy="2798063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5D5E2"/>
                </a:solidFill>
                <a:latin typeface="Aptos"/>
              </a:defRPr>
            </a:pPr>
            <a:r>
              <a:t>Close the tour, recalculate every leg, and confirm each vertex appears exactly once.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952744"/>
            <a:ext cx="10789920" cy="27432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394AA"/>
                </a:solidFill>
                <a:latin typeface="Aptos"/>
              </a:defRPr>
            </a:pPr>
            <a:r>
              <a:t>Main program uses only the Python standard library; no external packages or APIs are needed.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B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" y="420624"/>
            <a:ext cx="73152" cy="301752"/>
          </a:xfrm>
          <a:prstGeom prst="rect">
            <a:avLst/>
          </a:prstGeom>
          <a:solidFill>
            <a:srgbClr val="F1BD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9184"/>
            <a:ext cx="10881360" cy="39319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EB8C5"/>
                </a:solidFill>
                <a:latin typeface="Aptos"/>
              </a:defRPr>
            </a:pPr>
            <a:r>
              <a:t>GREEDY TSP  /  CAGAYAN DE ORO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96112"/>
            <a:ext cx="10972800" cy="74980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6F8FB"/>
                </a:solidFill>
                <a:latin typeface="Aptos"/>
              </a:defRPr>
            </a:pPr>
            <a:r>
              <a:t>LIVE PYTHON EXECUTION  |  show the real run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345936"/>
            <a:ext cx="10936224" cy="10972"/>
          </a:xfrm>
          <a:prstGeom prst="rect">
            <a:avLst/>
          </a:prstGeom>
          <a:solidFill>
            <a:srgbClr val="3A5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37376"/>
            <a:ext cx="7315200" cy="20116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394AA"/>
                </a:solidFill>
                <a:latin typeface="Aptos"/>
              </a:defRPr>
            </a:pPr>
            <a:r>
              <a:t>TSP • Greedy Nearest Neighbor • educational straight-line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822960" cy="21031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394A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1874519"/>
            <a:ext cx="10671048" cy="3648456"/>
          </a:xfrm>
          <a:prstGeom prst="roundRect">
            <a:avLst>
              <a:gd name="adj" fmla="val 10000"/>
            </a:avLst>
          </a:prstGeom>
          <a:solidFill>
            <a:srgbClr val="1C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2112264"/>
            <a:ext cx="9966960" cy="45720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5D5E2"/>
                </a:solidFill>
                <a:latin typeface="Aptos"/>
              </a:defRPr>
            </a:pPr>
            <a:r>
              <a:t>Run from the folder containing all CSV files: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5568" y="2807208"/>
            <a:ext cx="9875520" cy="722376"/>
          </a:xfrm>
          <a:prstGeom prst="roundRect">
            <a:avLst>
              <a:gd name="adj" fmla="val 10000"/>
            </a:avLst>
          </a:prstGeom>
          <a:solidFill>
            <a:srgbClr val="0B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35024" y="2962656"/>
            <a:ext cx="9235440" cy="402336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EB8C5"/>
                </a:solidFill>
                <a:latin typeface="Consolas"/>
              </a:defRPr>
            </a:pPr>
            <a:r>
              <a:t>python TSP_Greedy_Implementation.py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3831336"/>
            <a:ext cx="9994392" cy="109728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6F8FB"/>
                </a:solidFill>
                <a:latin typeface="Aptos"/>
              </a:defRPr>
            </a:pPr>
            <a:r>
              <a:t>Show these outputs live: input locations and matrix → greedy selections → closed tour → sum of weights → validation.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952744"/>
            <a:ext cx="10789920" cy="27432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394AA"/>
                </a:solidFill>
                <a:latin typeface="Aptos"/>
              </a:defRPr>
            </a:pPr>
            <a:r>
              <a:t>Do not replace this demonstration with screenshots of code/output. Show actual execution while recording.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B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" y="420624"/>
            <a:ext cx="73152" cy="301752"/>
          </a:xfrm>
          <a:prstGeom prst="rect">
            <a:avLst/>
          </a:prstGeom>
          <a:solidFill>
            <a:srgbClr val="F1BD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9184"/>
            <a:ext cx="10881360" cy="39319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EB8C5"/>
                </a:solidFill>
                <a:latin typeface="Aptos"/>
              </a:defRPr>
            </a:pPr>
            <a:r>
              <a:t>GREEDY TSP  /  CAGAYAN DE ORO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96112"/>
            <a:ext cx="10972800" cy="74980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6F8FB"/>
                </a:solidFill>
                <a:latin typeface="Aptos"/>
              </a:defRPr>
            </a:pPr>
            <a:r>
              <a:t>Result: a valid 5-location closed tour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345936"/>
            <a:ext cx="10936224" cy="10972"/>
          </a:xfrm>
          <a:prstGeom prst="rect">
            <a:avLst/>
          </a:prstGeom>
          <a:solidFill>
            <a:srgbClr val="3A5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37376"/>
            <a:ext cx="7315200" cy="20116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394AA"/>
                </a:solidFill>
                <a:latin typeface="Aptos"/>
              </a:defRPr>
            </a:pPr>
            <a:r>
              <a:t>TSP • Greedy Nearest Neighbor • educational straight-line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822960" cy="21031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394AA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1828800"/>
            <a:ext cx="10652760" cy="1280160"/>
          </a:xfrm>
          <a:prstGeom prst="roundRect">
            <a:avLst>
              <a:gd name="adj" fmla="val 10000"/>
            </a:avLst>
          </a:prstGeom>
          <a:solidFill>
            <a:srgbClr val="1C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148840"/>
            <a:ext cx="10040112" cy="65836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1BD71"/>
                </a:solidFill>
                <a:latin typeface="Aptos"/>
              </a:defRPr>
            </a:pPr>
            <a:r>
              <a:t>A   →   B   →   C   →   D   →   E   →  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3401568"/>
            <a:ext cx="5166360" cy="2157984"/>
          </a:xfrm>
          <a:prstGeom prst="roundRect">
            <a:avLst>
              <a:gd name="adj" fmla="val 10000"/>
            </a:avLst>
          </a:prstGeom>
          <a:solidFill>
            <a:srgbClr val="1C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694176"/>
            <a:ext cx="4526280" cy="36576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B8C5"/>
                </a:solidFill>
                <a:latin typeface="Aptos"/>
              </a:defRPr>
            </a:pPr>
            <a:r>
              <a:t>MODEL DISTANCE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4224528"/>
            <a:ext cx="4654296" cy="722376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300" b="1">
                <a:solidFill>
                  <a:srgbClr val="F6F8FB"/>
                </a:solidFill>
                <a:latin typeface="Aptos"/>
              </a:defRPr>
            </a:pPr>
            <a:r>
              <a:t>3.937 km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3401568"/>
            <a:ext cx="5212080" cy="2157984"/>
          </a:xfrm>
          <a:prstGeom prst="roundRect">
            <a:avLst>
              <a:gd name="adj" fmla="val 10000"/>
            </a:avLst>
          </a:prstGeom>
          <a:solidFill>
            <a:srgbClr val="1C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8816" y="3694176"/>
            <a:ext cx="4535424" cy="39319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EB8C5"/>
                </a:solidFill>
                <a:latin typeface="Aptos"/>
              </a:defRPr>
            </a:pPr>
            <a:r>
              <a:t>TOUR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16" y="4206240"/>
            <a:ext cx="4480560" cy="100584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6F8FB"/>
                </a:solidFill>
                <a:latin typeface="Aptos"/>
              </a:defRPr>
            </a:pPr>
            <a:r>
              <a:t>5 unique vertices visited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6F8FB"/>
                </a:solidFill>
                <a:latin typeface="Aptos"/>
              </a:defRPr>
            </a:pPr>
            <a:r>
              <a:t>Return to A: confirmed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952744"/>
            <a:ext cx="10789920" cy="27432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394AA"/>
                </a:solidFill>
                <a:latin typeface="Aptos"/>
              </a:defRPr>
            </a:pPr>
            <a:r>
              <a:t>Recalculated from the exact 0.001-km values in the CSV distance matrix.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B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" y="420624"/>
            <a:ext cx="73152" cy="301752"/>
          </a:xfrm>
          <a:prstGeom prst="rect">
            <a:avLst/>
          </a:prstGeom>
          <a:solidFill>
            <a:srgbClr val="F1BD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9184"/>
            <a:ext cx="10881360" cy="39319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EB8C5"/>
                </a:solidFill>
                <a:latin typeface="Aptos"/>
              </a:defRPr>
            </a:pPr>
            <a:r>
              <a:t>GREEDY TSP  /  CAGAYAN DE ORO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96112"/>
            <a:ext cx="10972800" cy="74980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6F8FB"/>
                </a:solidFill>
                <a:latin typeface="Aptos"/>
              </a:defRPr>
            </a:pPr>
            <a:r>
              <a:t>Does Greedy guarantee the shortest route?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345936"/>
            <a:ext cx="10936224" cy="10972"/>
          </a:xfrm>
          <a:prstGeom prst="rect">
            <a:avLst/>
          </a:prstGeom>
          <a:solidFill>
            <a:srgbClr val="3A5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37376"/>
            <a:ext cx="7315200" cy="20116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394AA"/>
                </a:solidFill>
                <a:latin typeface="Aptos"/>
              </a:defRPr>
            </a:pPr>
            <a:r>
              <a:t>TSP • Greedy Nearest Neighbor • educational straight-line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822960" cy="21031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394AA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901952"/>
            <a:ext cx="5257800" cy="3593592"/>
          </a:xfrm>
          <a:prstGeom prst="roundRect">
            <a:avLst>
              <a:gd name="adj" fmla="val 10000"/>
            </a:avLst>
          </a:prstGeom>
          <a:solidFill>
            <a:srgbClr val="1C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901952"/>
            <a:ext cx="54864" cy="3593592"/>
          </a:xfrm>
          <a:prstGeom prst="rect">
            <a:avLst/>
          </a:prstGeom>
          <a:solidFill>
            <a:srgbClr val="F6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84832"/>
            <a:ext cx="4846320" cy="34747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6F8FB"/>
                </a:solidFill>
                <a:latin typeface="Aptos"/>
              </a:defRPr>
            </a:pPr>
            <a:r>
              <a:t>In general: 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514600"/>
            <a:ext cx="4782312" cy="288036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C5D5E2"/>
                </a:solidFill>
                <a:latin typeface="Aptos"/>
              </a:defRPr>
            </a:pPr>
            <a:r>
              <a:t>Nearest Neighbor makes decisions based on the shortest next edge. Early choices can force a longer closing edge. Its repeated scans take O(n²)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901952"/>
            <a:ext cx="5257800" cy="3593592"/>
          </a:xfrm>
          <a:prstGeom prst="roundRect">
            <a:avLst>
              <a:gd name="adj" fmla="val 10000"/>
            </a:avLst>
          </a:prstGeom>
          <a:solidFill>
            <a:srgbClr val="1C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901952"/>
            <a:ext cx="54864" cy="3593592"/>
          </a:xfrm>
          <a:prstGeom prst="rect">
            <a:avLst/>
          </a:prstGeom>
          <a:solidFill>
            <a:srgbClr val="2EB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084832"/>
            <a:ext cx="4846320" cy="34747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6F8FB"/>
                </a:solidFill>
                <a:latin typeface="Aptos"/>
              </a:defRPr>
            </a:pPr>
            <a:r>
              <a:t>For this dataset: YES, verified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14600"/>
            <a:ext cx="4782312" cy="288036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C5D5E2"/>
                </a:solidFill>
                <a:latin typeface="Aptos"/>
              </a:defRPr>
            </a:pPr>
            <a:r>
              <a:t>An optional independent exhaustive audit checked all 4! = 24 fixed-start tours. The minimum was 3.937 km, matching our Greedy total.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952744"/>
            <a:ext cx="10789920" cy="27432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394AA"/>
                </a:solidFill>
                <a:latin typeface="Aptos"/>
              </a:defRPr>
            </a:pPr>
            <a:r>
              <a:t>The exhaustive audit is verification only: the assigned solver remains Greedy Nearest Neighbor.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B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" y="420624"/>
            <a:ext cx="73152" cy="301752"/>
          </a:xfrm>
          <a:prstGeom prst="rect">
            <a:avLst/>
          </a:prstGeom>
          <a:solidFill>
            <a:srgbClr val="F1BD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9184"/>
            <a:ext cx="10881360" cy="39319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EB8C5"/>
                </a:solidFill>
                <a:latin typeface="Aptos"/>
              </a:defRPr>
            </a:pPr>
            <a:r>
              <a:t>GREEDY TSP  /  CAGAYAN DE ORO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96112"/>
            <a:ext cx="10972800" cy="74980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6F8FB"/>
                </a:solidFill>
                <a:latin typeface="Aptos"/>
              </a:defRPr>
            </a:pPr>
            <a:r>
              <a:t>Limitations, improvements and 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345936"/>
            <a:ext cx="10936224" cy="10972"/>
          </a:xfrm>
          <a:prstGeom prst="rect">
            <a:avLst/>
          </a:prstGeom>
          <a:solidFill>
            <a:srgbClr val="3A5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37376"/>
            <a:ext cx="7315200" cy="20116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394AA"/>
                </a:solidFill>
                <a:latin typeface="Aptos"/>
              </a:defRPr>
            </a:pPr>
            <a:r>
              <a:t>TSP • Greedy Nearest Neighbor • educational straight-line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822960" cy="21031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394AA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847088"/>
            <a:ext cx="5230368" cy="3593592"/>
          </a:xfrm>
          <a:prstGeom prst="roundRect">
            <a:avLst>
              <a:gd name="adj" fmla="val 10000"/>
            </a:avLst>
          </a:prstGeom>
          <a:solidFill>
            <a:srgbClr val="1C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847088"/>
            <a:ext cx="54864" cy="3593592"/>
          </a:xfrm>
          <a:prstGeom prst="rect">
            <a:avLst/>
          </a:prstGeom>
          <a:solidFill>
            <a:srgbClr val="F1BD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4818888" cy="34747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6F8FB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59736"/>
            <a:ext cx="4754879" cy="288036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C5D5E2"/>
                </a:solidFill>
                <a:latin typeface="Aptos"/>
              </a:defRPr>
            </a:pPr>
            <a:r>
              <a:t>Straight-line distances are not real walking distances; accessibility and road geometry are ignored. Another dataset or starting point can yield a nonoptimal Greedy route.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847088"/>
            <a:ext cx="5312664" cy="3593592"/>
          </a:xfrm>
          <a:prstGeom prst="roundRect">
            <a:avLst>
              <a:gd name="adj" fmla="val 10000"/>
            </a:avLst>
          </a:prstGeom>
          <a:solidFill>
            <a:srgbClr val="1C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847088"/>
            <a:ext cx="54864" cy="3593592"/>
          </a:xfrm>
          <a:prstGeom prst="rect">
            <a:avLst/>
          </a:prstGeom>
          <a:solidFill>
            <a:srgbClr val="2EB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2029968"/>
            <a:ext cx="4901183" cy="34747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6F8FB"/>
                </a:solidFill>
                <a:latin typeface="Aptos"/>
              </a:defRPr>
            </a:pPr>
            <a:r>
              <a:t>Conclusion / next 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459736"/>
            <a:ext cx="4837175" cy="288036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C5D5E2"/>
                </a:solidFill>
                <a:latin typeface="Aptos"/>
              </a:defRPr>
            </a:pPr>
            <a:r>
              <a:t>Our Greedy program creates a valid closed tour and achieves 3.937 modeled km. A future version could replace proxy weights with Google Maps walking/driving travel distances.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952744"/>
            <a:ext cx="10789920" cy="27432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394AA"/>
                </a:solidFill>
                <a:latin typeface="Aptos"/>
              </a:defRPr>
            </a:pPr>
            <a:r>
              <a:t>Answer the problem as modeled, not as an unrestricted claim about actual street travel.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B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" y="420624"/>
            <a:ext cx="73152" cy="301752"/>
          </a:xfrm>
          <a:prstGeom prst="rect">
            <a:avLst/>
          </a:prstGeom>
          <a:solidFill>
            <a:srgbClr val="F1BD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9184"/>
            <a:ext cx="10881360" cy="39319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EB8C5"/>
                </a:solidFill>
                <a:latin typeface="Aptos"/>
              </a:defRPr>
            </a:pPr>
            <a:r>
              <a:t>GREEDY TSP  /  CAGAYAN DE ORO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96112"/>
            <a:ext cx="10972800" cy="74980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6F8FB"/>
                </a:solidFill>
                <a:latin typeface="Aptos"/>
              </a:defRPr>
            </a:pPr>
            <a:r>
              <a:t>References and map verification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345936"/>
            <a:ext cx="10936224" cy="10972"/>
          </a:xfrm>
          <a:prstGeom prst="rect">
            <a:avLst/>
          </a:prstGeom>
          <a:solidFill>
            <a:srgbClr val="3A5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37376"/>
            <a:ext cx="7315200" cy="201168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394AA"/>
                </a:solidFill>
                <a:latin typeface="Aptos"/>
              </a:defRPr>
            </a:pPr>
            <a:r>
              <a:t>TSP • Greedy Nearest Neighbor • educational straight-line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822960" cy="21031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394AA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1773936"/>
            <a:ext cx="10588752" cy="4187952"/>
          </a:xfrm>
          <a:prstGeom prst="roundRect">
            <a:avLst>
              <a:gd name="adj" fmla="val 10000"/>
            </a:avLst>
          </a:prstGeom>
          <a:solidFill>
            <a:srgbClr val="1C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947672"/>
            <a:ext cx="9948672" cy="36576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1BD71"/>
                </a:solidFill>
                <a:latin typeface="Aptos"/>
              </a:defRPr>
            </a:pPr>
            <a:r>
              <a:t>Assigned algorithm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" y="2386584"/>
            <a:ext cx="9966960" cy="585216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5D5E2"/>
                </a:solidFill>
                <a:latin typeface="Aptos"/>
              </a:defRPr>
            </a:pPr>
            <a:r>
              <a:t>“2.7 Greedy Algorithm,” The Mindanao Journal of Mathematics, Vol. 6 (2024), no. 2, pp. 79–111; excerpt at pp. 88–89.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136392"/>
            <a:ext cx="9957816" cy="310896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1BD71"/>
                </a:solidFill>
                <a:latin typeface="Aptos"/>
              </a:defRPr>
            </a:pPr>
            <a:r>
              <a:t>Location / coordinate references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3502152"/>
            <a:ext cx="9976104" cy="54864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5D5E2"/>
                </a:solidFill>
                <a:latin typeface="Aptos"/>
              </a:defRPr>
            </a:pPr>
            <a:r>
              <a:t>Gaston Park &amp; Limketkai: Mapcarta / OpenStreetMap. Plaza Divisoria &amp; Centrio: Wikipedia coordinates. SM Downtown: Wikidata.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315968"/>
            <a:ext cx="9875520" cy="36576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1BD71"/>
                </a:solidFill>
                <a:latin typeface="Aptos"/>
              </a:defRPr>
            </a:pPr>
            <a:r>
              <a:t>Google Maps</a:t>
            </a:r>
          </a:p>
        </p:txBody>
      </p:sp>
      <p:sp>
        <p:nvSpPr>
          <p:cNvPr id="16" name="Rounded Rectangle 15">
            <a:hlinkClick r:id="rId2"/>
          </p:cNvPr>
          <p:cNvSpPr/>
          <p:nvPr/>
        </p:nvSpPr>
        <p:spPr>
          <a:xfrm>
            <a:off x="1078992" y="4681728"/>
            <a:ext cx="9564624" cy="429768"/>
          </a:xfrm>
          <a:prstGeom prst="roundRect">
            <a:avLst>
              <a:gd name="adj" fmla="val 10000"/>
            </a:avLst>
          </a:prstGeom>
          <a:solidFill>
            <a:srgbClr val="315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8448" y="4773168"/>
            <a:ext cx="9144000" cy="274320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6F8FB"/>
                </a:solidFill>
                <a:latin typeface="Aptos"/>
              </a:defRPr>
            </a:pPr>
            <a:r>
              <a:t>OPEN ROUTE IN GOOGLE MAPS - WALKING PREVIEW  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" y="5166360"/>
            <a:ext cx="9966960" cy="530352"/>
          </a:xfrm>
          <a:prstGeom prst="rect">
            <a:avLst/>
          </a:prstGeom>
          <a:noFill/>
        </p:spPr>
        <p:txBody>
          <a:bodyPr wrap="square" lIns="27432" rIns="27432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5D5E2"/>
                </a:solidFill>
                <a:latin typeface="Aptos"/>
              </a:defRPr>
            </a:pPr>
            <a:r>
              <a:t>Google Maps preview is for geographic context; numerical model weights come from coordinate calculations, not Maps directions.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